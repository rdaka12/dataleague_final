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Holdout</c:v>
                </c:pt>
              </c:strCache>
            </c:strRef>
          </c:tx>
          <c:spPr>
            <a:solidFill>
              <a:srgbClr val="2D5BFF"/>
            </a:solidFill>
          </c:spPr>
          <c:cat>
            <c:strRef>
              <c:f>Sheet1!$A$2:$A$5</c:f>
              <c:strCache>
                <c:ptCount val="4"/>
                <c:pt idx="0">
                  <c:v>ROC-AUC</c:v>
                </c:pt>
                <c:pt idx="1">
                  <c:v>PR-AUC</c:v>
                </c:pt>
                <c:pt idx="2">
                  <c:v>M Recall</c:v>
                </c:pt>
                <c:pt idx="3">
                  <c:v>M 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0.92480901656983</c:v>
                </c:pt>
                <c:pt idx="1">
                  <c:v>0.7058975760784366</c:v>
                </c:pt>
                <c:pt idx="2">
                  <c:v>0.812962962962963</c:v>
                </c:pt>
                <c:pt idx="3">
                  <c:v>0.6165730337078652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External</c:v>
                </c:pt>
              </c:strCache>
            </c:strRef>
          </c:tx>
          <c:spPr>
            <a:solidFill>
              <a:srgbClr val="E6483D"/>
            </a:solidFill>
          </c:spPr>
          <c:cat>
            <c:strRef>
              <c:f>Sheet1!$A$2:$A$5</c:f>
              <c:strCache>
                <c:ptCount val="4"/>
                <c:pt idx="0">
                  <c:v>ROC-AUC</c:v>
                </c:pt>
                <c:pt idx="1">
                  <c:v>PR-AUC</c:v>
                </c:pt>
                <c:pt idx="2">
                  <c:v>M Recall</c:v>
                </c:pt>
                <c:pt idx="3">
                  <c:v>M F1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0.9429764982310784</c:v>
                </c:pt>
                <c:pt idx="1">
                  <c:v>0.8919341966903094</c:v>
                </c:pt>
                <c:pt idx="2">
                  <c:v>0.8991869918699187</c:v>
                </c:pt>
                <c:pt idx="3">
                  <c:v>0.7821782178217822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7BFB1"/>
            </a:solidFill>
          </a:ln>
        </c:spPr>
        <c:txPr>
          <a:bodyPr/>
          <a:lstStyle/>
          <a:p>
            <a:pPr>
              <a:defRPr sz="900">
                <a:solidFill>
                  <a:srgbClr val="5B647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4DDD2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7BFB1"/>
            </a:solidFill>
          </a:ln>
        </c:spPr>
        <c:txPr>
          <a:bodyPr/>
          <a:lstStyle/>
          <a:p>
            <a:pPr>
              <a:defRPr sz="900">
                <a:solidFill>
                  <a:srgbClr val="5B6472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decision</c:v>
                </c:pt>
              </c:strCache>
            </c:strRef>
          </c:tx>
          <c:dPt>
            <c:idx val="0"/>
            <c:spPr>
              <a:solidFill>
                <a:srgbClr val="0E7C66"/>
              </a:solidFill>
            </c:spPr>
          </c:dPt>
          <c:dPt>
            <c:idx val="1"/>
            <c:spPr>
              <a:solidFill>
                <a:srgbClr val="E6483D"/>
              </a:solidFill>
            </c:spPr>
          </c:dPt>
          <c:cat>
            <c:strRef>
              <c:f>Sheet1!$A$2:$A$3</c:f>
              <c:strCache>
                <c:ptCount val="2"/>
                <c:pt idx="0">
                  <c:v>Organic</c:v>
                </c:pt>
                <c:pt idx="1">
                  <c:v>Manipulative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4047410</c:v>
                </c:pt>
                <c:pt idx="1">
                  <c:v>957403</c:v>
                </c:pt>
              </c:numCache>
            </c:numRef>
          </c:val>
        </c:ser>
        <c:dLbls>
          <c:dLblPos val="bestFit"/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score</c:v>
                </c:pt>
              </c:strCache>
            </c:strRef>
          </c:tx>
          <c:spPr>
            <a:solidFill>
              <a:srgbClr val="E6483D"/>
            </a:solidFill>
          </c:spPr>
          <c:cat>
            <c:strRef>
              <c:f>Sheet1!$A$2:$A$7</c:f>
              <c:strCache>
                <c:ptCount val="6"/>
                <c:pt idx="0">
                  <c:v>Cryptocurrency</c:v>
                </c:pt>
                <c:pt idx="1">
                  <c:v>Politics</c:v>
                </c:pt>
                <c:pt idx="2">
                  <c:v>Investing</c:v>
                </c:pt>
                <c:pt idx="3">
                  <c:v>Finance</c:v>
                </c:pt>
                <c:pt idx="4">
                  <c:v>Social</c:v>
                </c:pt>
                <c:pt idx="5">
                  <c:v>Technology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0.6199333091242645</c:v>
                </c:pt>
                <c:pt idx="1">
                  <c:v>0.3889196452500781</c:v>
                </c:pt>
                <c:pt idx="2">
                  <c:v>0.2331217717462371</c:v>
                </c:pt>
                <c:pt idx="3">
                  <c:v>0.1447278376187674</c:v>
                </c:pt>
                <c:pt idx="4">
                  <c:v>0.1380044605253491</c:v>
                </c:pt>
                <c:pt idx="5">
                  <c:v>0.1351212176692697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7BFB1"/>
            </a:solidFill>
          </a:ln>
        </c:spPr>
        <c:txPr>
          <a:bodyPr/>
          <a:lstStyle/>
          <a:p>
            <a:pPr>
              <a:defRPr sz="800">
                <a:solidFill>
                  <a:srgbClr val="5B647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5"/>
        </c:scaling>
        <c:delete val="0"/>
        <c:axPos val="b"/>
        <c:majorGridlines>
          <c:spPr>
            <a:ln>
              <a:solidFill>
                <a:srgbClr val="E4DDD2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7BFB1"/>
            </a:solidFill>
          </a:ln>
        </c:spPr>
        <c:txPr>
          <a:bodyPr/>
          <a:lstStyle/>
          <a:p>
            <a:pPr>
              <a:defRPr sz="800">
                <a:solidFill>
                  <a:srgbClr val="5B647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Manipulative rate</c:v>
                </c:pt>
              </c:strCache>
            </c:strRef>
          </c:tx>
          <c:spPr>
            <a:ln>
              <a:solidFill>
                <a:srgbClr val="2D5BFF"/>
              </a:solidFill>
            </a:ln>
          </c:spPr>
          <c:cat>
            <c:strRef>
              <c:f>Sheet1!$A$2:$A$8</c:f>
              <c:strCache>
                <c:ptCount val="7"/>
                <c:pt idx="0">
                  <c:v>11-14</c:v>
                </c:pt>
                <c:pt idx="1">
                  <c:v>11-19</c:v>
                </c:pt>
                <c:pt idx="2">
                  <c:v>11-20</c:v>
                </c:pt>
                <c:pt idx="3">
                  <c:v>11-21</c:v>
                </c:pt>
                <c:pt idx="4">
                  <c:v>11-22</c:v>
                </c:pt>
                <c:pt idx="5">
                  <c:v>11-23</c:v>
                </c:pt>
                <c:pt idx="6">
                  <c:v>11-24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0.1998636839960774</c:v>
                </c:pt>
                <c:pt idx="1">
                  <c:v>0.1945548482309549</c:v>
                </c:pt>
                <c:pt idx="2">
                  <c:v>0.2054128152516036</c:v>
                </c:pt>
                <c:pt idx="3">
                  <c:v>0.1930843737098053</c:v>
                </c:pt>
                <c:pt idx="4">
                  <c:v>0.1875104882620726</c:v>
                </c:pt>
                <c:pt idx="5">
                  <c:v>0.1691261997277507</c:v>
                </c:pt>
                <c:pt idx="6">
                  <c:v>0.1931577610297231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7BFB1"/>
            </a:solidFill>
          </a:ln>
        </c:spPr>
        <c:txPr>
          <a:bodyPr/>
          <a:lstStyle/>
          <a:p>
            <a:pPr>
              <a:defRPr sz="800">
                <a:solidFill>
                  <a:srgbClr val="5B6472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25"/>
        </c:scaling>
        <c:delete val="0"/>
        <c:axPos val="l"/>
        <c:majorGridlines>
          <c:spPr>
            <a:ln>
              <a:solidFill>
                <a:srgbClr val="E4DDD2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7BFB1"/>
            </a:solidFill>
          </a:ln>
        </c:spPr>
        <c:txPr>
          <a:bodyPr/>
          <a:lstStyle/>
          <a:p>
            <a:pPr>
              <a:defRPr sz="800">
                <a:solidFill>
                  <a:srgbClr val="5B6472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828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2B84B"/>
                </a:solidFill>
                <a:latin typeface="Aptos"/>
              </a:rPr>
              <a:t>V11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7498079" cy="1417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Sosyal Medya
Manipülasyon Tespit Sistemi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880360"/>
            <a:ext cx="6583680" cy="51206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D7E0EC"/>
                </a:solidFill>
                <a:latin typeface="Aptos"/>
              </a:rPr>
              <a:t>Text-first XLM-RoBERTa modeli + 5M içerik skorlama + manipülasyon haritası + canlı jüri tahmini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33087"/>
            <a:ext cx="182880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2B84B"/>
                </a:solidFill>
                <a:latin typeface="Aptos"/>
              </a:rPr>
              <a:t>5.0M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8288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Aptos"/>
              </a:rPr>
              <a:t>skorlanan içerik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4133087"/>
            <a:ext cx="201168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0.943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4663440"/>
            <a:ext cx="201168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Aptos"/>
              </a:rPr>
              <a:t>external ROC-AUC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4133087"/>
            <a:ext cx="1645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E6483D"/>
                </a:solidFill>
                <a:latin typeface="Aptos"/>
              </a:rPr>
              <a:t>89.9%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4663440"/>
            <a:ext cx="16459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Aptos"/>
              </a:rPr>
              <a:t>M recall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868472"/>
            <a:ext cx="384048" cy="2389327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5413248"/>
            <a:ext cx="59436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C9D3E2"/>
                </a:solidFill>
                <a:latin typeface="Aptos"/>
              </a:rPr>
              <a:t>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3419856"/>
            <a:ext cx="384048" cy="1837943"/>
          </a:xfrm>
          <a:prstGeom prst="rect">
            <a:avLst/>
          </a:prstGeom>
          <a:solidFill>
            <a:srgbClr val="E6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5413248"/>
            <a:ext cx="59436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C9D3E2"/>
                </a:solidFill>
                <a:latin typeface="Aptos"/>
              </a:rPr>
              <a:t>Dil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3971239"/>
            <a:ext cx="384048" cy="1286560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5413248"/>
            <a:ext cx="59436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C9D3E2"/>
                </a:solidFill>
                <a:latin typeface="Aptos"/>
              </a:rPr>
              <a:t>Tema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87000" y="3113532"/>
            <a:ext cx="384048" cy="2144268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95560" y="5413248"/>
            <a:ext cx="59436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C9D3E2"/>
                </a:solidFill>
                <a:latin typeface="Aptos"/>
              </a:rPr>
              <a:t>Author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236208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9B5C5"/>
                </a:solidFill>
                <a:latin typeface="Aptos"/>
              </a:rPr>
              <a:t>DataLeague Final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236208"/>
            <a:ext cx="1554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2B84B"/>
                </a:solidFill>
                <a:latin typeface="Aptos"/>
              </a:rPr>
              <a:t>Canlı demo hazır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ptos"/>
              </a:rPr>
              <a:t>İstenen üç çıktı aynı sistemde birleşiyor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85953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Aptos"/>
              </a:rPr>
              <a:t>Model, harita ve canlı tahmin aynı V11 bundle’ını kullanıyor.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1188720" cy="41148"/>
          </a:xfrm>
          <a:prstGeom prst="rect">
            <a:avLst/>
          </a:prstGeom>
          <a:solidFill>
            <a:srgbClr val="E6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645920"/>
            <a:ext cx="6858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7C66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76272"/>
            <a:ext cx="292608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ptos"/>
              </a:rPr>
              <a:t>Organiklik skoru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670048"/>
            <a:ext cx="2103120" cy="16459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063240" cy="10058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472"/>
                </a:solidFill>
                <a:latin typeface="Aptos"/>
              </a:rPr>
              <a:t>Her içerik için 0-1 arası manipülatif skor ve organiklik skoru.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645920"/>
            <a:ext cx="6858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6483D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76272"/>
            <a:ext cx="292608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ptos"/>
              </a:rPr>
              <a:t>Manipülasyon haritası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7992" y="2670048"/>
            <a:ext cx="2103120" cy="16459"/>
          </a:xfrm>
          <a:prstGeom prst="rect">
            <a:avLst/>
          </a:prstGeom>
          <a:solidFill>
            <a:srgbClr val="E6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2926080"/>
            <a:ext cx="3063240" cy="10058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472"/>
                </a:solidFill>
                <a:latin typeface="Aptos"/>
              </a:rPr>
              <a:t>Platform, dil, tema, zaman, author ve duplicate cluster kırılımları.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645920"/>
            <a:ext cx="6858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D5B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176272"/>
            <a:ext cx="292608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ptos"/>
              </a:rPr>
              <a:t>Canlı inference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02752" y="2670048"/>
            <a:ext cx="2103120" cy="16459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926080"/>
            <a:ext cx="3063240" cy="10058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472"/>
                </a:solidFill>
                <a:latin typeface="Aptos"/>
              </a:rPr>
              <a:t>Jüri metni anlık işlenir; karar, skor, review flag ve gerekçe döner.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74920"/>
            <a:ext cx="987552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72033"/>
                </a:solidFill>
                <a:latin typeface="Aptos"/>
              </a:rPr>
              <a:t>Karar modeli text-only; metadata dashboard ve ağ analitiği için kullanıldı.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5650992"/>
            <a:ext cx="1508760" cy="310896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original_text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5650992"/>
            <a:ext cx="1600200" cy="310896"/>
          </a:xfrm>
          <a:prstGeom prst="roundRect">
            <a:avLst/>
          </a:prstGeom>
          <a:solidFill>
            <a:srgbClr val="E6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XLM-RoBERTa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5650992"/>
            <a:ext cx="1600200" cy="310896"/>
          </a:xfrm>
          <a:prstGeom prst="round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score + reason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6510528"/>
            <a:ext cx="2194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7C8796"/>
                </a:solidFill>
                <a:latin typeface="Aptos"/>
              </a:rPr>
              <a:t>DataLeague Final | V11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7C879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ptos"/>
              </a:rPr>
              <a:t>Mimari: canlı karar sade, analitik katman zengin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85953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Aptos"/>
              </a:rPr>
              <a:t>Jüri unseen metin verdiğinde model yalnız metne bakar; 5M skorlar haritada bağlama oturur.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1188720" cy="41148"/>
          </a:xfrm>
          <a:prstGeom prst="rect">
            <a:avLst/>
          </a:prstGeom>
          <a:solidFill>
            <a:srgbClr val="E6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938528"/>
            <a:ext cx="1828800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121408"/>
            <a:ext cx="15087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60k manuel M/O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450592"/>
            <a:ext cx="15087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Aptos"/>
              </a:rPr>
              <a:t>group split
leakage kontrol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240280"/>
            <a:ext cx="292608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E6483D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938528"/>
            <a:ext cx="1828800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2121408"/>
            <a:ext cx="15087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XLM-RoBERTa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450592"/>
            <a:ext cx="15087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Aptos"/>
              </a:rPr>
              <a:t>CUDA eğitimi
class-weighted 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240280"/>
            <a:ext cx="292608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E6483D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938528"/>
            <a:ext cx="1828800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2121408"/>
            <a:ext cx="15087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Eşik politikası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2450592"/>
            <a:ext cx="15087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Aptos"/>
              </a:rPr>
              <a:t>M recall ≥ 0.80
review bandı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240280"/>
            <a:ext cx="292608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E6483D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938528"/>
            <a:ext cx="1828800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2121408"/>
            <a:ext cx="15087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5M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2450592"/>
            <a:ext cx="15087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Aptos"/>
              </a:rPr>
              <a:t>row-group shard
resume + combine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240280"/>
            <a:ext cx="292608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E6483D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1938528"/>
            <a:ext cx="1828800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02952" y="2121408"/>
            <a:ext cx="15087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2" y="2450592"/>
            <a:ext cx="15087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Aptos"/>
              </a:rPr>
              <a:t>platform/dil/tema
user/zaman/ağ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94760"/>
            <a:ext cx="182880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6483D"/>
                </a:solidFill>
                <a:latin typeface="Aptos"/>
              </a:rPr>
              <a:t>Model kararı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60520"/>
            <a:ext cx="649224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ptos"/>
              </a:rPr>
              <a:t>original_text → manipulative_score / organic_score → Organik / Manipülatif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00600"/>
            <a:ext cx="201168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E7C66"/>
                </a:solidFill>
                <a:latin typeface="Aptos"/>
              </a:rPr>
              <a:t>Analitik karar desteği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66360"/>
            <a:ext cx="832104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5B6472"/>
                </a:solidFill>
                <a:latin typeface="Aptos"/>
              </a:rPr>
              <a:t>Skorlar; platform, dil, tema, tarih, author_hash ve duplicate kümeleriyle gruplanır.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" y="6510528"/>
            <a:ext cx="2194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7C8796"/>
                </a:solidFill>
                <a:latin typeface="Aptos"/>
              </a:rPr>
              <a:t>DataLeague Final | V11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7C879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ptos"/>
              </a:rPr>
              <a:t>Model: manipülatifi kaçırmamaya ayarlı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85953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Aptos"/>
              </a:rPr>
              <a:t>Eşik validation üzerinde M recall hedefiyle seçildi; canlı sonuç review flag ile güven bandı verir.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1188720" cy="41148"/>
          </a:xfrm>
          <a:prstGeom prst="rect">
            <a:avLst/>
          </a:prstGeom>
          <a:solidFill>
            <a:srgbClr val="E6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600200"/>
          <a:ext cx="580644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95160" y="1664208"/>
            <a:ext cx="192024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E6483D"/>
                </a:solidFill>
                <a:latin typeface="Aptos"/>
              </a:rPr>
              <a:t>0.943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2194560"/>
            <a:ext cx="192024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Aptos"/>
              </a:rPr>
              <a:t>External ROC-AUC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664208"/>
            <a:ext cx="182880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2D5BFF"/>
                </a:solidFill>
                <a:latin typeface="Aptos"/>
              </a:rPr>
              <a:t>0.892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2194560"/>
            <a:ext cx="18288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Aptos"/>
              </a:rPr>
              <a:t>External PR-AUC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154680"/>
            <a:ext cx="201168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0E7C66"/>
                </a:solidFill>
                <a:latin typeface="Aptos"/>
              </a:rPr>
              <a:t>89.9%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3685032"/>
            <a:ext cx="201168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Aptos"/>
              </a:rPr>
              <a:t>External M 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3154680"/>
            <a:ext cx="182880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2B84B"/>
                </a:solidFill>
                <a:latin typeface="Aptos"/>
              </a:rPr>
              <a:t>78.2%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3685032"/>
            <a:ext cx="18288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Aptos"/>
              </a:rPr>
              <a:t>External M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6177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Confusion matrix external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4956048"/>
            <a:ext cx="1005840" cy="384048"/>
          </a:xfrm>
          <a:prstGeom prst="rect">
            <a:avLst/>
          </a:prstGeom>
          <a:solidFill>
            <a:srgbClr val="EAE3D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7456" y="5047488"/>
            <a:ext cx="93268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11827"/>
                </a:solidFill>
                <a:latin typeface="Aptos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4956048"/>
            <a:ext cx="1005840" cy="384048"/>
          </a:xfrm>
          <a:prstGeom prst="rect">
            <a:avLst/>
          </a:prstGeom>
          <a:solidFill>
            <a:srgbClr val="EAE3D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5047488"/>
            <a:ext cx="93268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11827"/>
                </a:solidFill>
                <a:latin typeface="Aptos"/>
              </a:rPr>
              <a:t>Pred 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4956048"/>
            <a:ext cx="1005840" cy="384048"/>
          </a:xfrm>
          <a:prstGeom prst="rect">
            <a:avLst/>
          </a:prstGeom>
          <a:solidFill>
            <a:srgbClr val="EAE3D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5047488"/>
            <a:ext cx="93268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11827"/>
                </a:solidFill>
                <a:latin typeface="Aptos"/>
              </a:rPr>
              <a:t>Pred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5340096"/>
            <a:ext cx="1005840" cy="384048"/>
          </a:xfrm>
          <a:prstGeom prst="rect">
            <a:avLst/>
          </a:prstGeom>
          <a:solidFill>
            <a:srgbClr val="EAE3D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77456" y="5431536"/>
            <a:ext cx="93268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11827"/>
                </a:solidFill>
                <a:latin typeface="Aptos"/>
              </a:rPr>
              <a:t>Actual 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5340096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5431536"/>
            <a:ext cx="93268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11827"/>
                </a:solidFill>
                <a:latin typeface="Aptos"/>
              </a:rPr>
              <a:t>1273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5340096"/>
            <a:ext cx="1005840" cy="384048"/>
          </a:xfrm>
          <a:prstGeom prst="rect">
            <a:avLst/>
          </a:prstGeom>
          <a:solidFill>
            <a:srgbClr val="F9D3C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89136" y="5431536"/>
            <a:ext cx="93268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11827"/>
                </a:solidFill>
                <a:latin typeface="Aptos"/>
              </a:rPr>
              <a:t>246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5724144"/>
            <a:ext cx="1005840" cy="384048"/>
          </a:xfrm>
          <a:prstGeom prst="rect">
            <a:avLst/>
          </a:prstGeom>
          <a:solidFill>
            <a:srgbClr val="EAE3D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77456" y="5815583"/>
            <a:ext cx="93268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11827"/>
                </a:solidFill>
                <a:latin typeface="Aptos"/>
              </a:rPr>
              <a:t>Actual 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5724144"/>
            <a:ext cx="1005840" cy="384048"/>
          </a:xfrm>
          <a:prstGeom prst="rect">
            <a:avLst/>
          </a:prstGeom>
          <a:solidFill>
            <a:srgbClr val="F7E5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5815583"/>
            <a:ext cx="93268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11827"/>
                </a:solidFill>
                <a:latin typeface="Aptos"/>
              </a:rPr>
              <a:t>62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5724144"/>
            <a:ext cx="1005840" cy="384048"/>
          </a:xfrm>
          <a:prstGeom prst="rect">
            <a:avLst/>
          </a:prstGeom>
          <a:solidFill>
            <a:srgbClr val="DDEFE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89136" y="5815583"/>
            <a:ext cx="93268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11827"/>
                </a:solidFill>
                <a:latin typeface="Aptos"/>
              </a:rPr>
              <a:t>553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6510528"/>
            <a:ext cx="2194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7C8796"/>
                </a:solidFill>
                <a:latin typeface="Aptos"/>
              </a:rPr>
              <a:t>DataLeague Final | V11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7C879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ptos"/>
              </a:rPr>
              <a:t>5M veri üzerinde skorlama tamamlandı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85953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Aptos"/>
              </a:rPr>
              <a:t>Her satıra skor, karar ve review flag basıldı; çıktı dashboard ve demo ile aynı eşiği kullanıyor.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1188720" cy="41148"/>
          </a:xfrm>
          <a:prstGeom prst="rect">
            <a:avLst/>
          </a:prstGeom>
          <a:solidFill>
            <a:srgbClr val="E6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554480"/>
          <a:ext cx="3657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74920" y="1737360"/>
            <a:ext cx="283464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172033"/>
                </a:solidFill>
                <a:latin typeface="Aptos"/>
              </a:rPr>
              <a:t>5.004.813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2267712"/>
            <a:ext cx="283464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Aptos"/>
              </a:rPr>
              <a:t>skorlanan içerik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3090672"/>
            <a:ext cx="283464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E6483D"/>
                </a:solidFill>
                <a:latin typeface="Aptos"/>
              </a:rPr>
              <a:t>19.1%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3621024"/>
            <a:ext cx="283464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Aptos"/>
              </a:rPr>
              <a:t>manipülatif karar oranı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3090672"/>
            <a:ext cx="25603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2B84B"/>
                </a:solidFill>
                <a:latin typeface="Aptos"/>
              </a:rPr>
              <a:t>4.3%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621024"/>
            <a:ext cx="25603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Aptos"/>
              </a:rPr>
              <a:t>review bandındaki içerik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4663440"/>
            <a:ext cx="1280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Çıktı şeması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5010912"/>
            <a:ext cx="585216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row_id, original_text, language, url, author_hash, date, primary_theme, manipulative_score, organic_score, decision, review_flag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2194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7C8796"/>
                </a:solidFill>
                <a:latin typeface="Aptos"/>
              </a:rPr>
              <a:t>DataLeague Final | V11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7C879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ptos"/>
              </a:rPr>
              <a:t>Manipülasyon haritası: risk platform ve dile göre ayrışıyor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85953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Aptos"/>
              </a:rPr>
              <a:t>Yüksek hacimli kombinasyonlar filtrelendi; renk ortalama manipülatif skoru gösterir.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1188720" cy="41148"/>
          </a:xfrm>
          <a:prstGeom prst="rect">
            <a:avLst/>
          </a:prstGeom>
          <a:solidFill>
            <a:srgbClr val="E6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01368"/>
            <a:ext cx="11430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472"/>
                </a:solidFill>
                <a:latin typeface="Aptos"/>
              </a:rPr>
              <a:t>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371600"/>
            <a:ext cx="960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5B6472"/>
                </a:solidFill>
                <a:latin typeface="Aptos"/>
              </a:rPr>
              <a:t>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39" y="1371600"/>
            <a:ext cx="960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5B6472"/>
                </a:solidFill>
                <a:latin typeface="Aptos"/>
              </a:rPr>
              <a:t>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371600"/>
            <a:ext cx="960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5B6472"/>
                </a:solidFill>
                <a:latin typeface="Aptos"/>
              </a:rPr>
              <a:t>zh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371600"/>
            <a:ext cx="960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5B6472"/>
                </a:solidFill>
                <a:latin typeface="Aptos"/>
              </a:rPr>
              <a:t>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371600"/>
            <a:ext cx="960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5B6472"/>
                </a:solidFill>
                <a:latin typeface="Aptos"/>
              </a:rPr>
              <a:t>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371600"/>
            <a:ext cx="960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5B6472"/>
                </a:solidFill>
                <a:latin typeface="Aptos"/>
              </a:rPr>
              <a:t>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371600"/>
            <a:ext cx="960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5B6472"/>
                </a:solidFill>
                <a:latin typeface="Aptos"/>
              </a:rPr>
              <a:t>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19656"/>
            <a:ext cx="1371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x.com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1691640"/>
            <a:ext cx="923544" cy="457200"/>
          </a:xfrm>
          <a:prstGeom prst="rect">
            <a:avLst/>
          </a:prstGeom>
          <a:solidFill>
            <a:srgbClr val="F2B8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39" y="1847088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39" y="1691640"/>
            <a:ext cx="923544" cy="457200"/>
          </a:xfrm>
          <a:prstGeom prst="rect">
            <a:avLst/>
          </a:prstGeom>
          <a:solidFill>
            <a:srgbClr val="E648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59" y="1847088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0.60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691640"/>
            <a:ext cx="923544" cy="457200"/>
          </a:xfrm>
          <a:prstGeom prst="rect">
            <a:avLst/>
          </a:prstGeom>
          <a:solidFill>
            <a:srgbClr val="F07C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1847088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0.32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80" y="1691640"/>
            <a:ext cx="923544" cy="457200"/>
          </a:xfrm>
          <a:prstGeom prst="rect">
            <a:avLst/>
          </a:prstGeom>
          <a:solidFill>
            <a:srgbClr val="F2B8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1847088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0.29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691640"/>
            <a:ext cx="923544" cy="457200"/>
          </a:xfrm>
          <a:prstGeom prst="rect">
            <a:avLst/>
          </a:prstGeom>
          <a:solidFill>
            <a:srgbClr val="9AC9A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1847088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0.13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1691640"/>
            <a:ext cx="923544" cy="457200"/>
          </a:xfrm>
          <a:prstGeom prst="rect">
            <a:avLst/>
          </a:prstGeom>
          <a:solidFill>
            <a:srgbClr val="9AC9A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847088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1691640"/>
            <a:ext cx="923544" cy="457200"/>
          </a:xfrm>
          <a:prstGeom prst="rect">
            <a:avLst/>
          </a:prstGeom>
          <a:solidFill>
            <a:srgbClr val="9AC9A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1847088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313432"/>
            <a:ext cx="1371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www.youtube.com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185416"/>
            <a:ext cx="923544" cy="457200"/>
          </a:xfrm>
          <a:prstGeom prst="rect">
            <a:avLst/>
          </a:prstGeom>
          <a:solidFill>
            <a:srgbClr val="F07C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48839" y="2340864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0.31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39" y="2185416"/>
            <a:ext cx="923544" cy="457200"/>
          </a:xfrm>
          <a:prstGeom prst="rect">
            <a:avLst/>
          </a:prstGeom>
          <a:solidFill>
            <a:srgbClr val="F2B8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59" y="2340864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0.22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2185416"/>
            <a:ext cx="923544" cy="457200"/>
          </a:xfrm>
          <a:prstGeom prst="rect">
            <a:avLst/>
          </a:prstGeom>
          <a:solidFill>
            <a:srgbClr val="F2B8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9080" y="2340864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83480" y="2185416"/>
            <a:ext cx="923544" cy="457200"/>
          </a:xfrm>
          <a:prstGeom prst="rect">
            <a:avLst/>
          </a:prstGeom>
          <a:solidFill>
            <a:srgbClr val="EFE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2340864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-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2185416"/>
            <a:ext cx="923544" cy="457200"/>
          </a:xfrm>
          <a:prstGeom prst="rect">
            <a:avLst/>
          </a:prstGeom>
          <a:solidFill>
            <a:srgbClr val="F2B8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89320" y="2340864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0.28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2185416"/>
            <a:ext cx="923544" cy="457200"/>
          </a:xfrm>
          <a:prstGeom prst="rect">
            <a:avLst/>
          </a:prstGeom>
          <a:solidFill>
            <a:srgbClr val="F2B8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2340864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2185416"/>
            <a:ext cx="923544" cy="457200"/>
          </a:xfrm>
          <a:prstGeom prst="rect">
            <a:avLst/>
          </a:prstGeom>
          <a:solidFill>
            <a:srgbClr val="F2B8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09560" y="2340864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2807208"/>
            <a:ext cx="1371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www.reddit.com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03120" y="2679192"/>
            <a:ext cx="923544" cy="457200"/>
          </a:xfrm>
          <a:prstGeom prst="rect">
            <a:avLst/>
          </a:prstGeom>
          <a:solidFill>
            <a:srgbClr val="DDE8D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48839" y="2834640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0.04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63239" y="2679192"/>
            <a:ext cx="923544" cy="457200"/>
          </a:xfrm>
          <a:prstGeom prst="rect">
            <a:avLst/>
          </a:prstGeom>
          <a:solidFill>
            <a:srgbClr val="EFE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59" y="2834640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-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23360" y="2679192"/>
            <a:ext cx="923544" cy="457200"/>
          </a:xfrm>
          <a:prstGeom prst="rect">
            <a:avLst/>
          </a:prstGeom>
          <a:solidFill>
            <a:srgbClr val="EFE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69080" y="2834640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83480" y="2679192"/>
            <a:ext cx="923544" cy="457200"/>
          </a:xfrm>
          <a:prstGeom prst="rect">
            <a:avLst/>
          </a:prstGeom>
          <a:solidFill>
            <a:srgbClr val="EFE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0" y="2834640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2679192"/>
            <a:ext cx="923544" cy="457200"/>
          </a:xfrm>
          <a:prstGeom prst="rect">
            <a:avLst/>
          </a:prstGeom>
          <a:solidFill>
            <a:srgbClr val="DDE8D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89320" y="2834640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0.04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03720" y="2679192"/>
            <a:ext cx="923544" cy="457200"/>
          </a:xfrm>
          <a:prstGeom prst="rect">
            <a:avLst/>
          </a:prstGeom>
          <a:solidFill>
            <a:srgbClr val="DDE8D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2834640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0.02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63840" y="2679192"/>
            <a:ext cx="923544" cy="457200"/>
          </a:xfrm>
          <a:prstGeom prst="rect">
            <a:avLst/>
          </a:prstGeom>
          <a:solidFill>
            <a:srgbClr val="EFE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09560" y="2834640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-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3300984"/>
            <a:ext cx="1371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reddit.com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03120" y="3172968"/>
            <a:ext cx="923544" cy="457200"/>
          </a:xfrm>
          <a:prstGeom prst="rect">
            <a:avLst/>
          </a:prstGeom>
          <a:solidFill>
            <a:srgbClr val="DDE8D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48839" y="3328416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0.05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63239" y="3172968"/>
            <a:ext cx="923544" cy="457200"/>
          </a:xfrm>
          <a:prstGeom prst="rect">
            <a:avLst/>
          </a:prstGeom>
          <a:solidFill>
            <a:srgbClr val="EFE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59" y="3328416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-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23360" y="3172968"/>
            <a:ext cx="923544" cy="457200"/>
          </a:xfrm>
          <a:prstGeom prst="rect">
            <a:avLst/>
          </a:prstGeom>
          <a:solidFill>
            <a:srgbClr val="EFE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69080" y="3328416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83480" y="3172968"/>
            <a:ext cx="923544" cy="457200"/>
          </a:xfrm>
          <a:prstGeom prst="rect">
            <a:avLst/>
          </a:prstGeom>
          <a:solidFill>
            <a:srgbClr val="EFE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0" y="3328416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-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43600" y="3172968"/>
            <a:ext cx="923544" cy="457200"/>
          </a:xfrm>
          <a:prstGeom prst="rect">
            <a:avLst/>
          </a:prstGeom>
          <a:solidFill>
            <a:srgbClr val="DDE8D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89320" y="3328416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0.04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03720" y="3172968"/>
            <a:ext cx="923544" cy="457200"/>
          </a:xfrm>
          <a:prstGeom prst="rect">
            <a:avLst/>
          </a:prstGeom>
          <a:solidFill>
            <a:srgbClr val="DDE8D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40" y="3328416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0.04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63840" y="3172968"/>
            <a:ext cx="923544" cy="457200"/>
          </a:xfrm>
          <a:prstGeom prst="rect">
            <a:avLst/>
          </a:prstGeom>
          <a:solidFill>
            <a:srgbClr val="DDE8D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09560" y="3328416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0.04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" y="3794759"/>
            <a:ext cx="1371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bsky.app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103120" y="3666744"/>
            <a:ext cx="923544" cy="457200"/>
          </a:xfrm>
          <a:prstGeom prst="rect">
            <a:avLst/>
          </a:prstGeom>
          <a:solidFill>
            <a:srgbClr val="9AC9A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48839" y="3822191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0.13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63239" y="3666744"/>
            <a:ext cx="923544" cy="457200"/>
          </a:xfrm>
          <a:prstGeom prst="rect">
            <a:avLst/>
          </a:prstGeom>
          <a:solidFill>
            <a:srgbClr val="EFE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08959" y="3822191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023360" y="3666744"/>
            <a:ext cx="923544" cy="457200"/>
          </a:xfrm>
          <a:prstGeom prst="rect">
            <a:avLst/>
          </a:prstGeom>
          <a:solidFill>
            <a:srgbClr val="9AC9A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069080" y="3822191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0.17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83480" y="3666744"/>
            <a:ext cx="923544" cy="457200"/>
          </a:xfrm>
          <a:prstGeom prst="rect">
            <a:avLst/>
          </a:prstGeom>
          <a:solidFill>
            <a:srgbClr val="EFE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0" y="3822191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-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43600" y="3666744"/>
            <a:ext cx="923544" cy="457200"/>
          </a:xfrm>
          <a:prstGeom prst="rect">
            <a:avLst/>
          </a:prstGeom>
          <a:solidFill>
            <a:srgbClr val="DDE8D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89320" y="3822191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0.08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903720" y="3666744"/>
            <a:ext cx="923544" cy="457200"/>
          </a:xfrm>
          <a:prstGeom prst="rect">
            <a:avLst/>
          </a:prstGeom>
          <a:solidFill>
            <a:srgbClr val="DDE8D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49440" y="3822191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0.08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63840" y="3666744"/>
            <a:ext cx="923544" cy="457200"/>
          </a:xfrm>
          <a:prstGeom prst="rect">
            <a:avLst/>
          </a:prstGeom>
          <a:solidFill>
            <a:srgbClr val="DDE8D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09560" y="3822191"/>
            <a:ext cx="850392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ptos"/>
              </a:rPr>
              <a:t>0.03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98280" y="1737360"/>
            <a:ext cx="19202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6483D"/>
                </a:solidFill>
                <a:latin typeface="Aptos"/>
              </a:rPr>
              <a:t>Öne çıkan bulgular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98280" y="2176272"/>
            <a:ext cx="246888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Aptos"/>
              </a:rPr>
              <a:t>• x.com/ar: 68k içerik, ortalama skor 0.602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98280" y="2679191"/>
            <a:ext cx="246888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Aptos"/>
              </a:rPr>
              <a:t>• YouTube/en: 110k içerik, M oranı 38.2%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98280" y="3182112"/>
            <a:ext cx="246888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Aptos"/>
              </a:rPr>
              <a:t>• Reddit kırılımları geniş hacimli ama düşük riskli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98280" y="3685032"/>
            <a:ext cx="246888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Aptos"/>
              </a:rPr>
              <a:t>• Bsky daha organik eğilimli, ancak zh/en izlenmeli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85216" y="6510528"/>
            <a:ext cx="2194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7C8796"/>
                </a:solidFill>
                <a:latin typeface="Aptos"/>
              </a:rPr>
              <a:t>DataLeague Final | V11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7C879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ptos"/>
              </a:rPr>
              <a:t>Tema ve zaman: risk Crypto ve Politics etrafında yoğunlaşıyor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85953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Aptos"/>
              </a:rPr>
              <a:t>Dashboard yalnız skor dağılımı değil, manipülasyon bağlamını da gösteriyor.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1188720" cy="41148"/>
          </a:xfrm>
          <a:prstGeom prst="rect">
            <a:avLst/>
          </a:prstGeom>
          <a:solidFill>
            <a:srgbClr val="E6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3232" y="1600200"/>
          <a:ext cx="52120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0" y="1600200"/>
          <a:ext cx="4754880" cy="2788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37960" y="4800600"/>
            <a:ext cx="21945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E6483D"/>
                </a:solidFill>
                <a:latin typeface="Aptos"/>
              </a:rPr>
              <a:t>68.1%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5330952"/>
            <a:ext cx="219456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Aptos"/>
              </a:rPr>
              <a:t>Crypto manipülatif karar oranı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4800600"/>
            <a:ext cx="21031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2D5BFF"/>
                </a:solidFill>
                <a:latin typeface="Aptos"/>
              </a:rPr>
              <a:t>50.4%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5330952"/>
            <a:ext cx="21031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Aptos"/>
              </a:rPr>
              <a:t>Politics manipülatif karar oranı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510528"/>
            <a:ext cx="2194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7C8796"/>
                </a:solidFill>
                <a:latin typeface="Aptos"/>
              </a:rPr>
              <a:t>DataLeague Final | V11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7C8796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ptos"/>
              </a:rPr>
              <a:t>Ağ örüntüleri: tekrar, yüksek hacim ve yüksek skor aynı yerde buluşuyor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85953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Aptos"/>
              </a:rPr>
              <a:t>Author risk ve duplicate cluster listeleri manipülasyon ağını operasyonel olarak işaretler.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1188720" cy="41148"/>
          </a:xfrm>
          <a:prstGeom prst="rect">
            <a:avLst/>
          </a:prstGeom>
          <a:solidFill>
            <a:srgbClr val="E6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508760"/>
            <a:ext cx="21031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6483D"/>
                </a:solidFill>
                <a:latin typeface="Aptos"/>
              </a:rPr>
              <a:t>Top author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29260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5B6472"/>
                </a:solidFill>
                <a:latin typeface="Aptos"/>
              </a:rPr>
              <a:t>author_hash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39312" y="1901952"/>
            <a:ext cx="7772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5B6472"/>
                </a:solidFill>
                <a:latin typeface="Aptos"/>
              </a:rPr>
              <a:t>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6552" y="1901952"/>
            <a:ext cx="7772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5B6472"/>
                </a:solidFill>
                <a:latin typeface="Aptos"/>
              </a:rPr>
              <a:t>M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3792" y="1901952"/>
            <a:ext cx="7772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5B6472"/>
                </a:solidFill>
                <a:latin typeface="Aptos"/>
              </a:rPr>
              <a:t>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176272"/>
            <a:ext cx="5257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249424"/>
            <a:ext cx="28346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b34e6852df...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249424"/>
            <a:ext cx="685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7,950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249424"/>
            <a:ext cx="685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100.0%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2249424"/>
            <a:ext cx="685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E6483D"/>
                </a:solidFill>
                <a:latin typeface="Aptos"/>
              </a:rPr>
              <a:t>0.984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615184"/>
            <a:ext cx="5257800" cy="384048"/>
          </a:xfrm>
          <a:prstGeom prst="rect">
            <a:avLst/>
          </a:prstGeom>
          <a:solidFill>
            <a:srgbClr val="F0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688336"/>
            <a:ext cx="28346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0efad71f30...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2688336"/>
            <a:ext cx="685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2,214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688336"/>
            <a:ext cx="685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100.0%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688336"/>
            <a:ext cx="685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E6483D"/>
                </a:solidFill>
                <a:latin typeface="Aptos"/>
              </a:rPr>
              <a:t>0.972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054096"/>
            <a:ext cx="5257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127248"/>
            <a:ext cx="28346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e5b4159dac...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3127248"/>
            <a:ext cx="685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1,260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3127248"/>
            <a:ext cx="685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100.0%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3127248"/>
            <a:ext cx="685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E6483D"/>
                </a:solidFill>
                <a:latin typeface="Aptos"/>
              </a:rPr>
              <a:t>0.967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3493008"/>
            <a:ext cx="5257800" cy="384048"/>
          </a:xfrm>
          <a:prstGeom prst="rect">
            <a:avLst/>
          </a:prstGeom>
          <a:solidFill>
            <a:srgbClr val="F0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66160"/>
            <a:ext cx="28346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12e2a4e9d6...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5032" y="3566160"/>
            <a:ext cx="685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1,173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3566160"/>
            <a:ext cx="685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100.0%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3566160"/>
            <a:ext cx="685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E6483D"/>
                </a:solidFill>
                <a:latin typeface="Aptos"/>
              </a:rPr>
              <a:t>0.966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931920"/>
            <a:ext cx="5257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4005072"/>
            <a:ext cx="28346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c1a2f83f09...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85032" y="4005072"/>
            <a:ext cx="685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959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4005072"/>
            <a:ext cx="685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100.0%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9512" y="4005072"/>
            <a:ext cx="685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E6483D"/>
                </a:solidFill>
                <a:latin typeface="Aptos"/>
              </a:rPr>
              <a:t>0.962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508760"/>
            <a:ext cx="23774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E7C66"/>
                </a:solidFill>
                <a:latin typeface="Aptos"/>
              </a:rPr>
              <a:t>Duplicate cluster sinyali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1947672"/>
            <a:ext cx="461772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5392" y="2029967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E6483D"/>
                </a:solidFill>
                <a:latin typeface="Aptos"/>
              </a:rPr>
              <a:t>883 tekrar | skor 0.000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2020824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472"/>
                </a:solidFill>
                <a:latin typeface="Aptos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2697479"/>
            <a:ext cx="461772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2779775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E6483D"/>
                </a:solidFill>
                <a:latin typeface="Aptos"/>
              </a:rPr>
              <a:t>469 tekrar | skor 0.000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2770632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472"/>
                </a:solidFill>
                <a:latin typeface="Aptos"/>
              </a:rPr>
              <a:t/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3447287"/>
            <a:ext cx="461772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3529583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E6483D"/>
                </a:solidFill>
                <a:latin typeface="Aptos"/>
              </a:rPr>
              <a:t>392 tekrar | skor 0.000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3520439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472"/>
                </a:solidFill>
                <a:latin typeface="Aptos"/>
              </a:rPr>
              <a:t/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4197096"/>
            <a:ext cx="461772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65392" y="4279392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E6483D"/>
                </a:solidFill>
                <a:latin typeface="Aptos"/>
              </a:rPr>
              <a:t>332 tekrar | skor 0.000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4270248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472"/>
                </a:solidFill>
                <a:latin typeface="Aptos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669280"/>
            <a:ext cx="99669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Aptos"/>
              </a:rPr>
              <a:t>Jüri mesajı: Sistem sadece tekil metni sınıflandırmıyor; hangi kümelerin organize risk ürettiğini de gösteriyor.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" y="6510528"/>
            <a:ext cx="2194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7C8796"/>
                </a:solidFill>
                <a:latin typeface="Aptos"/>
              </a:rPr>
              <a:t>DataLeague Final | V11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7C8796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ptos"/>
              </a:rPr>
              <a:t>Canlı tahmin: gizli metin saniyeler içinde açıklamalı karar alır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85953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Aptos"/>
              </a:rPr>
              <a:t>CLI ve Streamlit aynı model bundle’ını ve aynı threshold değerini kullanır.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1188720" cy="41148"/>
          </a:xfrm>
          <a:prstGeom prst="rect">
            <a:avLst/>
          </a:prstGeom>
          <a:solidFill>
            <a:srgbClr val="E6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2801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Jüri metni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38528"/>
            <a:ext cx="292608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40280"/>
            <a:ext cx="2596896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Aptos"/>
              </a:rPr>
              <a:t>“Free crypto giveaway, join our Telegram now.”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5072" y="2331720"/>
            <a:ext cx="3200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E6483D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1554480"/>
            <a:ext cx="14630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V11 inference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938528"/>
            <a:ext cx="237744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2121408"/>
            <a:ext cx="1874519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B6472"/>
                </a:solidFill>
                <a:latin typeface="Aptos"/>
              </a:rPr>
              <a:t>tokenizer
XLM-RoBERTa
threshold + review 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2331720"/>
            <a:ext cx="3200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E6483D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554480"/>
            <a:ext cx="10972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Çıktı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938528"/>
            <a:ext cx="338328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121408"/>
            <a:ext cx="288036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6483D"/>
                </a:solidFill>
                <a:latin typeface="Aptos"/>
              </a:rPr>
              <a:t>Karar: Manipülatif
Skor: 0-1
Gerekçe + yakın manuel örnek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5BFF"/>
                </a:solidFill>
                <a:latin typeface="Aptos"/>
              </a:rPr>
              <a:t>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15968"/>
            <a:ext cx="7955279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Aptos"/>
              </a:rPr>
              <a:t>python version11_bert\scripts\v11_inference.py --text "..." --json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19472"/>
            <a:ext cx="10058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7C66"/>
                </a:solidFill>
                <a:latin typeface="Aptos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87782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472"/>
                </a:solidFill>
                <a:latin typeface="Aptos"/>
              </a:rPr>
              <a:t>Tek metin tahmini, batch CSV tahmini, platform/dil/tema/zaman/author risk haritası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2194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7C8796"/>
                </a:solidFill>
                <a:latin typeface="Aptos"/>
              </a:rPr>
              <a:t>DataLeague Final | V11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7C8796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ptos"/>
              </a:rPr>
              <a:t>Puanlama karşılığı: model değil, karar destek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85953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Aptos"/>
              </a:rPr>
              <a:t>Sunumda her rubric maddesi somut artefact ve canlı ekranla bağlanacak.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1188720" cy="41148"/>
          </a:xfrm>
          <a:prstGeom prst="rect">
            <a:avLst/>
          </a:prstGeom>
          <a:solidFill>
            <a:srgbClr val="E6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627632"/>
            <a:ext cx="21031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Analitik derinlik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4991" y="1627632"/>
            <a:ext cx="57607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472"/>
                </a:solidFill>
                <a:latin typeface="Aptos"/>
              </a:rPr>
              <a:t>Platform/dil/tema/zaman/author/duplicate cluster analizleri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37192" y="1609344"/>
            <a:ext cx="1554480" cy="310896"/>
          </a:xfrm>
          <a:prstGeom prst="roundRect">
            <a:avLst/>
          </a:prstGeom>
          <a:solidFill>
            <a:srgbClr val="E6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15-20 hedefi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2203704"/>
            <a:ext cx="9966960" cy="16459"/>
          </a:xfrm>
          <a:prstGeom prst="rect">
            <a:avLst/>
          </a:prstGeom>
          <a:solidFill>
            <a:srgbClr val="D8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615184"/>
            <a:ext cx="21031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Model + canlı tahmin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2615184"/>
            <a:ext cx="57607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472"/>
                </a:solidFill>
                <a:latin typeface="Aptos"/>
              </a:rPr>
              <a:t>External PR-AUC 0.892, M recall 0.899, CLI + dashboard 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37192" y="2596896"/>
            <a:ext cx="1554480" cy="310896"/>
          </a:xfrm>
          <a:prstGeom prst="roundRect">
            <a:avLst/>
          </a:prstGeom>
          <a:solidFill>
            <a:srgbClr val="E6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29-40 hedefi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3191256"/>
            <a:ext cx="9966960" cy="16459"/>
          </a:xfrm>
          <a:prstGeom prst="rect">
            <a:avLst/>
          </a:prstGeom>
          <a:solidFill>
            <a:srgbClr val="D8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602736"/>
            <a:ext cx="21031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Dashboard + sunum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3602736"/>
            <a:ext cx="57607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472"/>
                </a:solidFill>
                <a:latin typeface="Aptos"/>
              </a:rPr>
              <a:t>Risk haritası, author listesi, high-risk örnekler, batch tahmin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37192" y="3584448"/>
            <a:ext cx="1554480" cy="310896"/>
          </a:xfrm>
          <a:prstGeom prst="roundRect">
            <a:avLst/>
          </a:prstGeom>
          <a:solidFill>
            <a:srgbClr val="E6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15-20 hedefi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4178808"/>
            <a:ext cx="9966960" cy="16459"/>
          </a:xfrm>
          <a:prstGeom prst="rect">
            <a:avLst/>
          </a:prstGeom>
          <a:solidFill>
            <a:srgbClr val="D8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590288"/>
            <a:ext cx="21031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Teknik uygulanabilirlik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1" y="4590288"/>
            <a:ext cx="57607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472"/>
                </a:solidFill>
                <a:latin typeface="Aptos"/>
              </a:rPr>
              <a:t>CUDA train, resumable 5M scoring, Drive artefact, GitHub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7192" y="4572000"/>
            <a:ext cx="1554480" cy="310896"/>
          </a:xfrm>
          <a:prstGeom prst="round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15-20 hedefi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" y="5166360"/>
            <a:ext cx="9966960" cy="16459"/>
          </a:xfrm>
          <a:prstGeom prst="rect">
            <a:avLst/>
          </a:prstGeom>
          <a:solidFill>
            <a:srgbClr val="D8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66928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6483D"/>
                </a:solidFill>
                <a:latin typeface="Aptos"/>
              </a:rPr>
              <a:t>Kapanış cümlesi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5559552"/>
            <a:ext cx="81381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ptos"/>
              </a:rPr>
              <a:t>V11, tekil içerik kararını canlı verirken aynı skorları kullanarak manipülasyonun nerede, hangi dilde, hangi temada ve hangi author kümelerinde yoğunlaştığını gösterir.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6510528"/>
            <a:ext cx="2194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7C8796"/>
                </a:solidFill>
                <a:latin typeface="Aptos"/>
              </a:rPr>
              <a:t>DataLeague Final | V11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7C879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